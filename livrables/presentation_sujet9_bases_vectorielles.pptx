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sujet et les deux questions qui guident tout l'exposé.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Définir les 3 mots. Phrase-ancre : résultats ⊂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Exemple concret de paraphrase ; introduire les deux familles de méthodes.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inversé → IDF → k1/b. Insister sur le from scratch. Force/limite.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384 dimensions, cosinus = angle. La heatmap rend l'idée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= O(n·d). La dispersion des distances s'effondre avec la dimension.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Couches = raccourcis ; descente vers la zone pertinente ; efSearch règle l'effort.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synthétique donne une vérité terrain exacte → métriques fiables.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étages ; le plafond de rappel du 1er étage prépare le résultat hybride.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Binaire saturait → graduée 0-3, gold ~5-30 docs/requête. nDCG =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Honnête : jeu égal avec le dense ; gain réel sur les paraphrases ; plafond BM25.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Bascule pratique ~50k ; 48× à 1M ; coût en recall réglable par efSearch.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requête sémantique, le re-ranking, puis le slider efSearch. Plan B =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Répondre aux 2 questions sans surpromettre ; assumer les limites ; 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876300"/>
            <a:ext cx="66675" cy="1428750"/>
          </a:xfrm>
          <a:prstGeom prst="roundRect">
            <a:avLst>
              <a:gd name="adj" fmla="val 4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6300" y="800100"/>
            <a:ext cx="96202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Calibri"/>
              </a:rPr>
              <a:t>Bases vectorielles et recherche sémantique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1866900"/>
            <a:ext cx="990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A90"/>
                </a:solidFill>
                <a:latin typeface="Calibri"/>
              </a:rPr>
              <a:t>Retrouver les bons documents quand la requête n'a pas les mêmes mots — et à grande échelle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6300" y="2438400"/>
            <a:ext cx="975360" cy="285750"/>
          </a:xfrm>
          <a:prstGeom prst="roundRect">
            <a:avLst>
              <a:gd name="adj" fmla="val 50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9650" y="2438400"/>
            <a:ext cx="76581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6"/>
                </a:solidFill>
                <a:latin typeface="Calibri"/>
              </a:rPr>
              <a:t>SUJET 9</a:t>
            </a:r>
          </a:p>
        </p:txBody>
      </p:sp>
      <p:sp>
        <p:nvSpPr>
          <p:cNvPr id="7" name="Oval 6"/>
          <p:cNvSpPr/>
          <p:nvPr/>
        </p:nvSpPr>
        <p:spPr>
          <a:xfrm>
            <a:off x="876300" y="30099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93370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Q1 — </a:t>
            </a:r>
            <a:r>
              <a:rPr sz="1800">
                <a:solidFill>
                  <a:srgbClr val="243B53"/>
                </a:solidFill>
                <a:latin typeface="Calibri"/>
              </a:rPr>
              <a:t>l'hybride BM25 + re-ranking bat-il BM25 seul et le dense seul ?</a:t>
            </a:r>
          </a:p>
        </p:txBody>
      </p:sp>
      <p:sp>
        <p:nvSpPr>
          <p:cNvPr id="9" name="Oval 8"/>
          <p:cNvSpPr/>
          <p:nvPr/>
        </p:nvSpPr>
        <p:spPr>
          <a:xfrm>
            <a:off x="876300" y="344805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3371850"/>
            <a:ext cx="9715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Q2 — </a:t>
            </a:r>
            <a:r>
              <a:rPr sz="1800">
                <a:solidFill>
                  <a:srgbClr val="243B53"/>
                </a:solidFill>
                <a:latin typeface="Calibri"/>
              </a:rPr>
              <a:t>à partir de quelle taille HNSW devient-il indispensable, et à quel coût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3905250"/>
            <a:ext cx="219075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650" y="4057650"/>
            <a:ext cx="19240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B3FA8"/>
                </a:solidFill>
                <a:latin typeface="Calibri"/>
              </a:rPr>
              <a:t>2 000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552950"/>
            <a:ext cx="1924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documents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5650" y="3905250"/>
            <a:ext cx="219075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4057650"/>
            <a:ext cx="19240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7791F"/>
                </a:solidFill>
                <a:latin typeface="Calibr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552950"/>
            <a:ext cx="1924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requêtes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905250"/>
            <a:ext cx="219075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48350" y="4057650"/>
            <a:ext cx="19240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E7C6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8350" y="4552950"/>
            <a:ext cx="19240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régimes comparés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391150"/>
            <a:ext cx="571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B2545"/>
                </a:solidFill>
                <a:latin typeface="Calibri"/>
              </a:rPr>
              <a:t>Nemo MULLER et Yoan VIOLLET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5695950"/>
            <a:ext cx="571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  <a:latin typeface="Calibri"/>
              </a:rPr>
              <a:t>M1 Algorithmique et ingénierie de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3FA8"/>
                </a:solidFill>
                <a:latin typeface="Calibri"/>
              </a:rPr>
              <a:t>LES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Requête, document, résultat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Trois notions à distinguer avant les algorithmes.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24384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3622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Requête — </a:t>
            </a:r>
            <a:r>
              <a:rPr sz="1800">
                <a:solidFill>
                  <a:srgbClr val="243B53"/>
                </a:solidFill>
                <a:latin typeface="Calibri"/>
              </a:rPr>
              <a:t>ce que l'utilisateur tape au moment de chercher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06705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99085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Document — </a:t>
            </a:r>
            <a:r>
              <a:rPr sz="1800">
                <a:solidFill>
                  <a:srgbClr val="243B53"/>
                </a:solidFill>
                <a:latin typeface="Calibri"/>
              </a:rPr>
              <a:t>un texte déjà stocké dans la base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6957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61950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Résultat — </a:t>
            </a:r>
            <a:r>
              <a:rPr sz="1800">
                <a:solidFill>
                  <a:srgbClr val="243B53"/>
                </a:solidFill>
                <a:latin typeface="Calibri"/>
              </a:rPr>
              <a:t>un document affiché après comparaison requête ↔ base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432435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4248150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243B53"/>
                </a:solidFill>
                <a:latin typeface="Calibri"/>
              </a:rPr>
              <a:t>Le moteur compare la requête à toute la base, puis classe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162550"/>
            <a:ext cx="6667500" cy="762000"/>
          </a:xfrm>
          <a:prstGeom prst="roundRect">
            <a:avLst>
              <a:gd name="adj" fmla="val 8000"/>
            </a:avLst>
          </a:prstGeom>
          <a:solidFill>
            <a:srgbClr val="ECE7F7"/>
          </a:solidFill>
          <a:ln w="1270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050" y="5295900"/>
            <a:ext cx="63246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À retenir : tous les résultats sont des documents, mais tous les documents ne deviennent pas des résultats.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0500" y="2381250"/>
            <a:ext cx="3429000" cy="285750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6250" y="2667000"/>
            <a:ext cx="285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Requête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250" y="29718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ECE7F7"/>
          </a:solidFill>
          <a:ln w="12700">
            <a:solidFill>
              <a:srgbClr val="5B3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0550" y="3067050"/>
            <a:ext cx="2628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3FA8"/>
                </a:solidFill>
                <a:latin typeface="Calibri"/>
              </a:rPr>
              <a:t>moteur : compare + 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2125" y="3390900"/>
            <a:ext cx="28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7A90"/>
                </a:solidFill>
                <a:latin typeface="Calibri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676650"/>
            <a:ext cx="2857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7A90"/>
                </a:solidFill>
                <a:latin typeface="Calibri"/>
              </a:rPr>
              <a:t>Documents (toute la base)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6250" y="3943350"/>
            <a:ext cx="2857500" cy="1047750"/>
          </a:xfrm>
          <a:prstGeom prst="roundRect">
            <a:avLst>
              <a:gd name="adj" fmla="val 8000"/>
            </a:avLst>
          </a:prstGeom>
          <a:solidFill>
            <a:srgbClr val="E6ECF6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82000" y="4248150"/>
            <a:ext cx="2286000" cy="457200"/>
          </a:xfrm>
          <a:prstGeom prst="roundRect">
            <a:avLst>
              <a:gd name="adj" fmla="val 15000"/>
            </a:avLst>
          </a:prstGeom>
          <a:solidFill>
            <a:srgbClr val="E3F2EE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20125" y="4381500"/>
            <a:ext cx="190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C66"/>
                </a:solidFill>
                <a:latin typeface="Calibri"/>
              </a:rPr>
              <a:t>Résultats (top-K)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325880" cy="285750"/>
          </a:xfrm>
          <a:prstGeom prst="roundRect">
            <a:avLst>
              <a:gd name="adj" fmla="val 50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111633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480F"/>
                </a:solidFill>
                <a:latin typeface="Calibr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Le problème : les bons mots ne coïncident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Une requête et un document peuvent parler de la même chose sans les mêmes mots.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286000"/>
            <a:ext cx="10953750" cy="666750"/>
          </a:xfrm>
          <a:prstGeom prst="roundRect">
            <a:avLst>
              <a:gd name="adj" fmla="val 8000"/>
            </a:avLst>
          </a:prstGeom>
          <a:solidFill>
            <a:srgbClr val="FBE9E0"/>
          </a:solidFill>
          <a:ln w="127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50" y="2419350"/>
            <a:ext cx="106108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Exemple : « repérer un paiement anormal »  ↔  « détection de transactions frauduleuses »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4099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3333750"/>
            <a:ext cx="1076325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Recherche lexicale — </a:t>
            </a:r>
            <a:r>
              <a:rPr sz="1800">
                <a:solidFill>
                  <a:srgbClr val="243B53"/>
                </a:solidFill>
                <a:latin typeface="Calibri"/>
              </a:rPr>
              <a:t>cherche les mots communs → rate si le vocabulaire diffère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3860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962400"/>
            <a:ext cx="1076325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Recherche sémantique — </a:t>
            </a:r>
            <a:r>
              <a:rPr sz="1800">
                <a:solidFill>
                  <a:srgbClr val="243B53"/>
                </a:solidFill>
                <a:latin typeface="Calibri"/>
              </a:rPr>
              <a:t>rapproche les textes par le sens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46672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4591050"/>
            <a:ext cx="1076325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B2545"/>
                </a:solidFill>
                <a:latin typeface="Calibri"/>
              </a:rPr>
              <a:t>Enjeu RAG — </a:t>
            </a:r>
            <a:r>
              <a:rPr sz="1800">
                <a:solidFill>
                  <a:srgbClr val="243B53"/>
                </a:solidFill>
                <a:latin typeface="Calibri"/>
              </a:rPr>
              <a:t>si la recherche rate le bon passage, la réponse générée est fausse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6"/>
                </a:solidFill>
                <a:latin typeface="Calibri"/>
              </a:rPr>
              <a:t>MÉTHODE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BM25 — la recherche lexicale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Score selon les mots partagés entre requête et document.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24193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34315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Index inversé — </a:t>
            </a:r>
            <a:r>
              <a:rPr sz="1700">
                <a:solidFill>
                  <a:srgbClr val="243B53"/>
                </a:solidFill>
                <a:latin typeface="Calibri"/>
              </a:rPr>
              <a:t>chaque mot pointe vers les documents qui le contiennent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0099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93370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IDF — </a:t>
            </a:r>
            <a:r>
              <a:rPr sz="1700">
                <a:solidFill>
                  <a:srgbClr val="243B53"/>
                </a:solidFill>
                <a:latin typeface="Calibri"/>
              </a:rPr>
              <a:t>un mot rare (« HNSW ») pèse plus qu'un mot fréquent (« le »)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6004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52425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k1 — </a:t>
            </a:r>
            <a:r>
              <a:rPr sz="1700">
                <a:solidFill>
                  <a:srgbClr val="243B53"/>
                </a:solidFill>
                <a:latin typeface="Calibri"/>
              </a:rPr>
              <a:t>sature la répétition d'un mot ; b — normalise par la longueur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41910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4114800"/>
            <a:ext cx="6667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Implémenté from scratch — </a:t>
            </a:r>
            <a:r>
              <a:rPr sz="1700">
                <a:solidFill>
                  <a:srgbClr val="243B53"/>
                </a:solidFill>
                <a:latin typeface="Calibri"/>
              </a:rPr>
              <a:t>formule entièrement explicable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0500" y="2381250"/>
            <a:ext cx="3429000" cy="1238250"/>
          </a:xfrm>
          <a:prstGeom prst="roundRect">
            <a:avLst>
              <a:gd name="adj" fmla="val 8000"/>
            </a:avLst>
          </a:prstGeom>
          <a:solidFill>
            <a:srgbClr val="E3F2EE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1950" y="2514600"/>
            <a:ext cx="3086100" cy="100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Force : excellent quand les mots exacts sont présents et discriminants.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0500" y="3790950"/>
            <a:ext cx="3429000" cy="1238250"/>
          </a:xfrm>
          <a:prstGeom prst="roundRect">
            <a:avLst>
              <a:gd name="adj" fmla="val 8000"/>
            </a:avLst>
          </a:prstGeom>
          <a:solidFill>
            <a:srgbClr val="FBE9E0"/>
          </a:solidFill>
          <a:ln w="127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1950" y="3924300"/>
            <a:ext cx="3086100" cy="100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Limite : aveugle au sens — synonymes et paraphrases sans mot commun.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3FA8"/>
                </a:solidFill>
                <a:latin typeface="Calibri"/>
              </a:rPr>
              <a:t>MÉTHODE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5/14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Embeddings — la recherche sémantique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Le texte devient un vecteur ; le sens proche = des vecteurs proches.</a:t>
            </a:r>
          </a:p>
        </p:txBody>
      </p:sp>
      <p:pic>
        <p:nvPicPr>
          <p:cNvPr id="7" name="Picture 6" descr="cosine_similar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29" y="2324100"/>
            <a:ext cx="4653643" cy="36195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715000" y="25146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0" y="2438400"/>
            <a:ext cx="55245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Texte → vecteur dense — </a:t>
            </a:r>
            <a:r>
              <a:rPr sz="1700">
                <a:solidFill>
                  <a:srgbClr val="243B53"/>
                </a:solidFill>
                <a:latin typeface="Calibri"/>
              </a:rPr>
              <a:t>modèle all-MiniLM-L6-v2, 384 dimensions</a:t>
            </a:r>
          </a:p>
        </p:txBody>
      </p:sp>
      <p:sp>
        <p:nvSpPr>
          <p:cNvPr id="10" name="Oval 9"/>
          <p:cNvSpPr/>
          <p:nvPr/>
        </p:nvSpPr>
        <p:spPr>
          <a:xfrm>
            <a:off x="5715000" y="31242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05500" y="3048000"/>
            <a:ext cx="55245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243B53"/>
                </a:solidFill>
                <a:latin typeface="Calibri"/>
              </a:rPr>
              <a:t>Requête et documents encodés dans le même espace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37338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5500" y="3657600"/>
            <a:ext cx="55245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Comparaison — </a:t>
            </a:r>
            <a:r>
              <a:rPr sz="1700">
                <a:solidFill>
                  <a:srgbClr val="243B53"/>
                </a:solidFill>
                <a:latin typeface="Calibri"/>
              </a:rPr>
              <a:t>similarité cosinus (angle) ; normalisé → produit scalaire</a:t>
            </a:r>
          </a:p>
        </p:txBody>
      </p:sp>
      <p:sp>
        <p:nvSpPr>
          <p:cNvPr id="14" name="Oval 13"/>
          <p:cNvSpPr/>
          <p:nvPr/>
        </p:nvSpPr>
        <p:spPr>
          <a:xfrm>
            <a:off x="5715000" y="43434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4267200"/>
            <a:ext cx="55245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243B53"/>
                </a:solidFill>
                <a:latin typeface="Calibri"/>
              </a:rPr>
              <a:t>Sens proche → direction proche dans l'espace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5143500"/>
            <a:ext cx="5715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  <a:latin typeface="Calibri"/>
              </a:rPr>
              <a:t>Heatmap (20 phrases) : les phrases d'un même thème ont une similarité plus élevée.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975360" cy="285750"/>
          </a:xfrm>
          <a:prstGeom prst="roundRect">
            <a:avLst>
              <a:gd name="adj" fmla="val 50000"/>
            </a:avLst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76581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B7791F"/>
                </a:solidFill>
                <a:latin typeface="Calibri"/>
              </a:rPr>
              <a:t>LE DÉFI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6/14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Recherche exacte et passage à l'échelle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Comparer la requête à tous les vecteurs devient lourd quand le corpus grandit.</a:t>
            </a:r>
          </a:p>
        </p:txBody>
      </p:sp>
      <p:pic>
        <p:nvPicPr>
          <p:cNvPr id="7" name="Picture 6" descr="distance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76500"/>
            <a:ext cx="5334000" cy="33337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286500" y="24574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0" y="238125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Recherche exacte — </a:t>
            </a:r>
            <a:r>
              <a:rPr sz="1650">
                <a:solidFill>
                  <a:srgbClr val="243B53"/>
                </a:solidFill>
                <a:latin typeface="Calibri"/>
              </a:rPr>
              <a:t>compare la requête à TOUS les vecteurs</a:t>
            </a:r>
          </a:p>
        </p:txBody>
      </p:sp>
      <p:sp>
        <p:nvSpPr>
          <p:cNvPr id="10" name="Oval 9"/>
          <p:cNvSpPr/>
          <p:nvPr/>
        </p:nvSpPr>
        <p:spPr>
          <a:xfrm>
            <a:off x="6286500" y="300990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293370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Coût O(n·d) — </a:t>
            </a:r>
            <a:r>
              <a:rPr sz="1650">
                <a:solidFill>
                  <a:srgbClr val="243B53"/>
                </a:solidFill>
                <a:latin typeface="Calibri"/>
              </a:rPr>
              <a:t>linéaire, lourd à grande échelle</a:t>
            </a:r>
          </a:p>
        </p:txBody>
      </p:sp>
      <p:sp>
        <p:nvSpPr>
          <p:cNvPr id="12" name="Oval 11"/>
          <p:cNvSpPr/>
          <p:nvPr/>
        </p:nvSpPr>
        <p:spPr>
          <a:xfrm>
            <a:off x="6286500" y="35623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348615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Haute dimension — </a:t>
            </a:r>
            <a:r>
              <a:rPr sz="1650">
                <a:solidFill>
                  <a:srgbClr val="243B53"/>
                </a:solidFill>
                <a:latin typeface="Calibri"/>
              </a:rPr>
              <a:t>les distances se concentrent (CV 0,505 → 0,023)</a:t>
            </a:r>
          </a:p>
        </p:txBody>
      </p:sp>
      <p:sp>
        <p:nvSpPr>
          <p:cNvPr id="14" name="Oval 13"/>
          <p:cNvSpPr/>
          <p:nvPr/>
        </p:nvSpPr>
        <p:spPr>
          <a:xfrm>
            <a:off x="6286500" y="411480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0" y="403860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KD-tree / Ball Tree — </a:t>
            </a:r>
            <a:r>
              <a:rPr sz="1650">
                <a:solidFill>
                  <a:srgbClr val="243B53"/>
                </a:solidFill>
                <a:latin typeface="Calibri"/>
              </a:rPr>
              <a:t>éliminent moins de régions → inefficaces</a:t>
            </a:r>
          </a:p>
        </p:txBody>
      </p:sp>
      <p:sp>
        <p:nvSpPr>
          <p:cNvPr id="16" name="Oval 15"/>
          <p:cNvSpPr/>
          <p:nvPr/>
        </p:nvSpPr>
        <p:spPr>
          <a:xfrm>
            <a:off x="6286500" y="46672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0" y="4591050"/>
            <a:ext cx="49530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>
                <a:solidFill>
                  <a:srgbClr val="243B53"/>
                </a:solidFill>
                <a:latin typeface="Calibri"/>
              </a:rPr>
              <a:t>→ on passe aux méthodes approchées (ANN)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676400" cy="285750"/>
          </a:xfrm>
          <a:prstGeom prst="roundRect">
            <a:avLst>
              <a:gd name="adj" fmla="val 50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146685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6"/>
                </a:solidFill>
                <a:latin typeface="Calibri"/>
              </a:rPr>
              <a:t>LA SOLUTION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7/14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HNSW — un index approché par graphe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On accepte une approximation contrôlée pour aller bien plus vite.</a:t>
            </a:r>
          </a:p>
        </p:txBody>
      </p:sp>
      <p:pic>
        <p:nvPicPr>
          <p:cNvPr id="7" name="Picture 6" descr="hnsw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07946"/>
            <a:ext cx="5524500" cy="30518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477000" y="24574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381250"/>
            <a:ext cx="476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Graphe multi-couches — </a:t>
            </a:r>
            <a:r>
              <a:rPr sz="1650">
                <a:solidFill>
                  <a:srgbClr val="243B53"/>
                </a:solidFill>
                <a:latin typeface="Calibri"/>
              </a:rPr>
              <a:t>couches hautes = raccourcis (peu de points)</a:t>
            </a:r>
          </a:p>
        </p:txBody>
      </p:sp>
      <p:sp>
        <p:nvSpPr>
          <p:cNvPr id="10" name="Oval 9"/>
          <p:cNvSpPr/>
          <p:nvPr/>
        </p:nvSpPr>
        <p:spPr>
          <a:xfrm>
            <a:off x="6477000" y="30099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0" y="2933700"/>
            <a:ext cx="476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Couche basse — </a:t>
            </a:r>
            <a:r>
              <a:rPr sz="1650">
                <a:solidFill>
                  <a:srgbClr val="243B53"/>
                </a:solidFill>
                <a:latin typeface="Calibri"/>
              </a:rPr>
              <a:t>contient tous les vecteurs</a:t>
            </a:r>
          </a:p>
        </p:txBody>
      </p:sp>
      <p:sp>
        <p:nvSpPr>
          <p:cNvPr id="12" name="Oval 11"/>
          <p:cNvSpPr/>
          <p:nvPr/>
        </p:nvSpPr>
        <p:spPr>
          <a:xfrm>
            <a:off x="6477000" y="35623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0" y="3486150"/>
            <a:ext cx="476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Recherche — </a:t>
            </a:r>
            <a:r>
              <a:rPr sz="1650">
                <a:solidFill>
                  <a:srgbClr val="243B53"/>
                </a:solidFill>
                <a:latin typeface="Calibri"/>
              </a:rPr>
              <a:t>BFS guidé par la distance (voisins prometteurs)</a:t>
            </a:r>
          </a:p>
        </p:txBody>
      </p:sp>
      <p:sp>
        <p:nvSpPr>
          <p:cNvPr id="14" name="Oval 13"/>
          <p:cNvSpPr/>
          <p:nvPr/>
        </p:nvSpPr>
        <p:spPr>
          <a:xfrm>
            <a:off x="6477000" y="41148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0" y="4038600"/>
            <a:ext cx="476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efSearch — </a:t>
            </a:r>
            <a:r>
              <a:rPr sz="1650">
                <a:solidFill>
                  <a:srgbClr val="243B53"/>
                </a:solidFill>
                <a:latin typeface="Calibri"/>
              </a:rPr>
              <a:t>nombre de candidats explorés (vitesse ↔ qualité)</a:t>
            </a:r>
          </a:p>
        </p:txBody>
      </p:sp>
      <p:sp>
        <p:nvSpPr>
          <p:cNvPr id="16" name="Oval 15"/>
          <p:cNvSpPr/>
          <p:nvPr/>
        </p:nvSpPr>
        <p:spPr>
          <a:xfrm>
            <a:off x="6477000" y="46672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0" y="4591050"/>
            <a:ext cx="4762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50" b="1">
                <a:solidFill>
                  <a:srgbClr val="0B2545"/>
                </a:solidFill>
                <a:latin typeface="Calibri"/>
              </a:rPr>
              <a:t>Qualité mesurée — </a:t>
            </a:r>
            <a:r>
              <a:rPr sz="1650">
                <a:solidFill>
                  <a:srgbClr val="243B53"/>
                </a:solidFill>
                <a:latin typeface="Calibri"/>
              </a:rPr>
              <a:t>recall@K vs recherche exacte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6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366B"/>
                </a:solidFill>
                <a:latin typeface="Calibri"/>
              </a:rPr>
              <a:t>LE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8/14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Notre projet — un banc d'essai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On contrôle tout pour pouvoir mesurer proprement.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343150"/>
            <a:ext cx="2381250" cy="11049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2495550"/>
            <a:ext cx="2114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B3FA8"/>
                </a:solidFill>
                <a:latin typeface="Calibri"/>
              </a:rPr>
              <a:t>2 000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2990850"/>
            <a:ext cx="211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documents synthétiques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8500" y="2343150"/>
            <a:ext cx="2381250" cy="11049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1850" y="2495550"/>
            <a:ext cx="2114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B7791F"/>
                </a:solidFill>
                <a:latin typeface="Calibr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1850" y="2990850"/>
            <a:ext cx="211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requêtes annotées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7400" y="2343150"/>
            <a:ext cx="2381250" cy="11049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0750" y="2495550"/>
            <a:ext cx="2114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E7C66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0750" y="2990850"/>
            <a:ext cx="211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régimes comparés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6300" y="2343150"/>
            <a:ext cx="2381250" cy="11049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9650" y="2495550"/>
            <a:ext cx="21145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11366B"/>
                </a:solidFill>
                <a:latin typeface="Calibri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9650" y="2990850"/>
            <a:ext cx="211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graine (reproductible)</a:t>
            </a:r>
          </a:p>
        </p:txBody>
      </p:sp>
      <p:sp>
        <p:nvSpPr>
          <p:cNvPr id="19" name="Oval 18"/>
          <p:cNvSpPr/>
          <p:nvPr/>
        </p:nvSpPr>
        <p:spPr>
          <a:xfrm>
            <a:off x="609600" y="3962400"/>
            <a:ext cx="76200" cy="76200"/>
          </a:xfrm>
          <a:prstGeom prst="ellipse">
            <a:avLst/>
          </a:prstGeom>
          <a:solidFill>
            <a:srgbClr val="11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3886200"/>
            <a:ext cx="10763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Corpus synthétique — </a:t>
            </a:r>
            <a:r>
              <a:rPr sz="1700">
                <a:solidFill>
                  <a:srgbClr val="243B53"/>
                </a:solidFill>
                <a:latin typeface="Calibri"/>
              </a:rPr>
              <a:t>on connaît la vérité terrain (docs pertinents par requête)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514850"/>
            <a:ext cx="76200" cy="76200"/>
          </a:xfrm>
          <a:prstGeom prst="ellipse">
            <a:avLst/>
          </a:prstGeom>
          <a:solidFill>
            <a:srgbClr val="11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4438650"/>
            <a:ext cx="10763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Régimes comparés — </a:t>
            </a:r>
            <a:r>
              <a:rPr sz="1700">
                <a:solidFill>
                  <a:srgbClr val="243B53"/>
                </a:solidFill>
                <a:latin typeface="Calibri"/>
              </a:rPr>
              <a:t>BM25, dense, hybride, et HNSW pour l'indexation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09600" y="5067300"/>
            <a:ext cx="76200" cy="76200"/>
          </a:xfrm>
          <a:prstGeom prst="ellipse">
            <a:avLst/>
          </a:prstGeom>
          <a:solidFill>
            <a:srgbClr val="11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" y="4991100"/>
            <a:ext cx="10763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243B53"/>
                </a:solidFill>
                <a:latin typeface="Calibri"/>
              </a:rPr>
              <a:t>Métriques calculables et résultats régénérables à l'identique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3FA8"/>
                </a:solidFill>
                <a:latin typeface="Calibri"/>
              </a:rPr>
              <a:t>MÉTHODE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Le pipeline hybride — filtrer puis réordonner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Deux étages : rappel (BM25) puis précision (re-ranking).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4003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40030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57175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1. BM25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914650"/>
            <a:ext cx="2971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top-50 candidats</a:t>
            </a:r>
          </a:p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(rappel large, rapide)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2857500"/>
            <a:ext cx="3429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5B3FA8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24003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240030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7175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2. Re-ranking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14650"/>
            <a:ext cx="2971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réordonne les 50</a:t>
            </a:r>
          </a:p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(bi- ou cross-encodeur)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857500"/>
            <a:ext cx="3429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5B3FA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400" y="24003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3400" y="240030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3900" y="2571750"/>
            <a:ext cx="2971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3. Top-10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2914650"/>
            <a:ext cx="29718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classement final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4114800"/>
            <a:ext cx="10953750" cy="1047750"/>
          </a:xfrm>
          <a:prstGeom prst="roundRect">
            <a:avLst>
              <a:gd name="adj" fmla="val 8000"/>
            </a:avLst>
          </a:prstGeom>
          <a:solidFill>
            <a:srgbClr val="FBE9E0"/>
          </a:solidFill>
          <a:ln w="127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050" y="4248150"/>
            <a:ext cx="10610850" cy="819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Point clé : le re-ranker ne voit QUE les 50 candidats de BM25. Un bon document absent du top-50 est perdu — ce plafond explique nos résultats.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391150"/>
            <a:ext cx="10953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A90"/>
                </a:solidFill>
                <a:latin typeface="Calibri"/>
              </a:rPr>
              <a:t>Re-ranker de référence : cross-encoder ms-marco-MiniLM-L-6-v2.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102870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B7791F"/>
                </a:solidFill>
                <a:latin typeface="Calibri"/>
              </a:rPr>
              <a:t>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10/14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Comment on mesure la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Une mesure qui discrimine, sinon les comparaisons ne veulent rien dire.</a:t>
            </a:r>
          </a:p>
        </p:txBody>
      </p:sp>
      <p:sp>
        <p:nvSpPr>
          <p:cNvPr id="7" name="Oval 6"/>
          <p:cNvSpPr/>
          <p:nvPr/>
        </p:nvSpPr>
        <p:spPr>
          <a:xfrm>
            <a:off x="609600" y="24193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" y="234315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Problème — </a:t>
            </a:r>
            <a:r>
              <a:rPr sz="1700">
                <a:solidFill>
                  <a:srgbClr val="243B53"/>
                </a:solidFill>
                <a:latin typeface="Calibri"/>
              </a:rPr>
              <a:t>une pertinence binaire trop large saturait les scores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297180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89560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Solution — </a:t>
            </a:r>
            <a:r>
              <a:rPr sz="1700">
                <a:solidFill>
                  <a:srgbClr val="243B53"/>
                </a:solidFill>
                <a:latin typeface="Calibri"/>
              </a:rPr>
              <a:t>pertinence graduée 0-3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35242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44805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Grade 3 — </a:t>
            </a:r>
            <a:r>
              <a:rPr sz="1700">
                <a:solidFill>
                  <a:srgbClr val="243B53"/>
                </a:solidFill>
                <a:latin typeface="Calibri"/>
              </a:rPr>
              <a:t>bon thème + bon concept principal + bon domaine</a:t>
            </a:r>
          </a:p>
        </p:txBody>
      </p:sp>
      <p:sp>
        <p:nvSpPr>
          <p:cNvPr id="13" name="Oval 12"/>
          <p:cNvSpPr/>
          <p:nvPr/>
        </p:nvSpPr>
        <p:spPr>
          <a:xfrm>
            <a:off x="609600" y="407670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400050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Métriques — </a:t>
            </a:r>
            <a:r>
              <a:rPr sz="1700">
                <a:solidFill>
                  <a:srgbClr val="243B53"/>
                </a:solidFill>
                <a:latin typeface="Calibri"/>
              </a:rPr>
              <a:t>precision@10, recall@10, nDCG@10, MAP@50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4629150"/>
            <a:ext cx="76200" cy="76200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4552950"/>
            <a:ext cx="6667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nDCG — </a:t>
            </a:r>
            <a:r>
              <a:rPr sz="1700">
                <a:solidFill>
                  <a:srgbClr val="243B53"/>
                </a:solidFill>
                <a:latin typeface="Calibri"/>
              </a:rPr>
              <a:t>tient compte de l'ordre (bon doc en 1er &gt; en 10e)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4800" y="238125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8150" y="2533650"/>
            <a:ext cx="1333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D9480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8150" y="3028950"/>
            <a:ext cx="1333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min / requête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7400" y="238125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0750" y="2533650"/>
            <a:ext cx="1333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B3FA8"/>
                </a:solidFill>
                <a:latin typeface="Calibri"/>
              </a:rPr>
              <a:t>11,5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0" y="3028950"/>
            <a:ext cx="1333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médiane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1100" y="3695700"/>
            <a:ext cx="1600200" cy="11430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4450" y="3848100"/>
            <a:ext cx="1333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E7C66"/>
                </a:solidFill>
                <a:latin typeface="Calibri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4450" y="4343400"/>
            <a:ext cx="13335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243B53"/>
                </a:solidFill>
                <a:latin typeface="Calibri"/>
              </a:rPr>
              <a:t>max / requête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6"/>
                </a:solidFill>
                <a:latin typeface="Calibr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11/14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Résultat 1 — l'hybride : nuancé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Bat BM25, fait jeu égal avec le dense, gagne sur le sémantique.</a:t>
            </a:r>
          </a:p>
        </p:txBody>
      </p:sp>
      <p:pic>
        <p:nvPicPr>
          <p:cNvPr id="7" name="Picture 6" descr="reg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48890"/>
            <a:ext cx="6096000" cy="31699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953250" y="24574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0" y="2381250"/>
            <a:ext cx="4286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nDCG@10 — </a:t>
            </a:r>
            <a:r>
              <a:rPr sz="1600">
                <a:solidFill>
                  <a:srgbClr val="243B53"/>
                </a:solidFill>
                <a:latin typeface="Calibri"/>
              </a:rPr>
              <a:t>BM25 0,540 · dense 0,617 · hybride 0,614</a:t>
            </a:r>
          </a:p>
        </p:txBody>
      </p:sp>
      <p:sp>
        <p:nvSpPr>
          <p:cNvPr id="10" name="Oval 9"/>
          <p:cNvSpPr/>
          <p:nvPr/>
        </p:nvSpPr>
        <p:spPr>
          <a:xfrm>
            <a:off x="6953250" y="30099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933700"/>
            <a:ext cx="4286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243B53"/>
                </a:solidFill>
                <a:latin typeface="Calibri"/>
              </a:rPr>
              <a:t>Hybride &gt; BM25, mais jeu égal avec le dense (écart 0,003 = bruit)</a:t>
            </a:r>
          </a:p>
        </p:txBody>
      </p:sp>
      <p:sp>
        <p:nvSpPr>
          <p:cNvPr id="12" name="Oval 11"/>
          <p:cNvSpPr/>
          <p:nvPr/>
        </p:nvSpPr>
        <p:spPr>
          <a:xfrm>
            <a:off x="6953250" y="356235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0" y="3486150"/>
            <a:ext cx="4286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Pourquoi — </a:t>
            </a:r>
            <a:r>
              <a:rPr sz="1600">
                <a:solidFill>
                  <a:srgbClr val="243B53"/>
                </a:solidFill>
                <a:latin typeface="Calibri"/>
              </a:rPr>
              <a:t>plafonné par le 1er étage BM25 (rappel borné au top-50)</a:t>
            </a:r>
          </a:p>
        </p:txBody>
      </p:sp>
      <p:sp>
        <p:nvSpPr>
          <p:cNvPr id="14" name="Oval 13"/>
          <p:cNvSpPr/>
          <p:nvPr/>
        </p:nvSpPr>
        <p:spPr>
          <a:xfrm>
            <a:off x="6953250" y="4114800"/>
            <a:ext cx="76200" cy="762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0" y="4038600"/>
            <a:ext cx="428625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Sémantique — </a:t>
            </a:r>
            <a:r>
              <a:rPr sz="1600">
                <a:solidFill>
                  <a:srgbClr val="243B53"/>
                </a:solidFill>
                <a:latin typeface="Calibri"/>
              </a:rPr>
              <a:t>hybride 0,508 &gt; dense 0,478 &gt; BM25 0,377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0" y="5162550"/>
            <a:ext cx="4476750" cy="781050"/>
          </a:xfrm>
          <a:prstGeom prst="roundRect">
            <a:avLst>
              <a:gd name="adj" fmla="val 8000"/>
            </a:avLst>
          </a:prstGeom>
          <a:solidFill>
            <a:srgbClr val="E3F2EE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4700" y="5295900"/>
            <a:ext cx="413385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Valeur de l'hybride : pas un gain partout, une robustesse ciblée quand lexical et sémantique se complètent.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150620" cy="285750"/>
          </a:xfrm>
          <a:prstGeom prst="roundRect">
            <a:avLst>
              <a:gd name="adj" fmla="val 50000"/>
            </a:avLst>
          </a:prstGeom>
          <a:solidFill>
            <a:srgbClr val="FB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94107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480F"/>
                </a:solidFill>
                <a:latin typeface="Calibri"/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12/14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Résultat 2 — HNSW passe à l'échelle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Inutile petit, indispensable vers 50 000 vecteurs.</a:t>
            </a:r>
          </a:p>
        </p:txBody>
      </p:sp>
      <p:pic>
        <p:nvPicPr>
          <p:cNvPr id="7" name="Picture 6" descr="scale_cross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0" y="2362200"/>
            <a:ext cx="5511800" cy="35433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143750" y="24574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4250" y="2381250"/>
            <a:ext cx="4191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Petite taille — </a:t>
            </a:r>
            <a:r>
              <a:rPr sz="1600">
                <a:solidFill>
                  <a:srgbClr val="243B53"/>
                </a:solidFill>
                <a:latin typeface="Calibri"/>
              </a:rPr>
              <a:t>HNSW peu utile (exact déjà instantané)</a:t>
            </a:r>
          </a:p>
        </p:txBody>
      </p:sp>
      <p:sp>
        <p:nvSpPr>
          <p:cNvPr id="10" name="Oval 9"/>
          <p:cNvSpPr/>
          <p:nvPr/>
        </p:nvSpPr>
        <p:spPr>
          <a:xfrm>
            <a:off x="7143750" y="29908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4250" y="2914650"/>
            <a:ext cx="4191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Bascule pratique — </a:t>
            </a:r>
            <a:r>
              <a:rPr sz="1600">
                <a:solidFill>
                  <a:srgbClr val="243B53"/>
                </a:solidFill>
                <a:latin typeface="Calibri"/>
              </a:rPr>
              <a:t>~50 000 vecteurs (gain ≥ 5×)</a:t>
            </a:r>
          </a:p>
        </p:txBody>
      </p:sp>
      <p:sp>
        <p:nvSpPr>
          <p:cNvPr id="12" name="Oval 11"/>
          <p:cNvSpPr/>
          <p:nvPr/>
        </p:nvSpPr>
        <p:spPr>
          <a:xfrm>
            <a:off x="7143750" y="35242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34250" y="3448050"/>
            <a:ext cx="4191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1 million — </a:t>
            </a:r>
            <a:r>
              <a:rPr sz="1600">
                <a:solidFill>
                  <a:srgbClr val="243B53"/>
                </a:solidFill>
                <a:latin typeface="Calibri"/>
              </a:rPr>
              <a:t>~48× plus rapide que la force brute</a:t>
            </a:r>
          </a:p>
        </p:txBody>
      </p:sp>
      <p:sp>
        <p:nvSpPr>
          <p:cNvPr id="14" name="Oval 13"/>
          <p:cNvSpPr/>
          <p:nvPr/>
        </p:nvSpPr>
        <p:spPr>
          <a:xfrm>
            <a:off x="7143750" y="40576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4250" y="3981450"/>
            <a:ext cx="4191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Coût — </a:t>
            </a:r>
            <a:r>
              <a:rPr sz="1600">
                <a:solidFill>
                  <a:srgbClr val="243B53"/>
                </a:solidFill>
                <a:latin typeface="Calibri"/>
              </a:rPr>
              <a:t>recall 0,995 → 0,75 à efSearch fixe ; +18 % mémoire</a:t>
            </a:r>
          </a:p>
        </p:txBody>
      </p:sp>
      <p:sp>
        <p:nvSpPr>
          <p:cNvPr id="16" name="Oval 15"/>
          <p:cNvSpPr/>
          <p:nvPr/>
        </p:nvSpPr>
        <p:spPr>
          <a:xfrm>
            <a:off x="7143750" y="4591050"/>
            <a:ext cx="76200" cy="76200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4250" y="4514850"/>
            <a:ext cx="419100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Calibri"/>
              </a:rPr>
              <a:t>Récupérable — </a:t>
            </a:r>
            <a:r>
              <a:rPr sz="1600">
                <a:solidFill>
                  <a:srgbClr val="243B53"/>
                </a:solidFill>
                <a:latin typeface="Calibri"/>
              </a:rPr>
              <a:t>augmenter efSearch (au prix de la latence)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712470" cy="285750"/>
          </a:xfrm>
          <a:prstGeom prst="roundRect">
            <a:avLst>
              <a:gd name="adj" fmla="val 50000"/>
            </a:avLst>
          </a:prstGeom>
          <a:solidFill>
            <a:srgbClr val="ECE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50292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3FA8"/>
                </a:solidFill>
                <a:latin typeface="Calibri"/>
              </a:rPr>
              <a:t>DÉMO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13/14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Démonstration —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Rendre les résultats visibles, en direct.</a:t>
            </a:r>
          </a:p>
        </p:txBody>
      </p:sp>
      <p:pic>
        <p:nvPicPr>
          <p:cNvPr id="7" name="Picture 6" descr="scale_recall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90" y="2381250"/>
            <a:ext cx="5548819" cy="352425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667500" y="25146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4384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243B53"/>
                </a:solidFill>
                <a:latin typeface="Calibri"/>
              </a:rPr>
              <a:t>Comparaison BM25 / dense / hybride sur une requête sémantique</a:t>
            </a:r>
          </a:p>
        </p:txBody>
      </p:sp>
      <p:sp>
        <p:nvSpPr>
          <p:cNvPr id="10" name="Oval 9"/>
          <p:cNvSpPr/>
          <p:nvPr/>
        </p:nvSpPr>
        <p:spPr>
          <a:xfrm>
            <a:off x="6667500" y="31242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30480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Re-ranking — </a:t>
            </a:r>
            <a:r>
              <a:rPr sz="1700">
                <a:solidFill>
                  <a:srgbClr val="243B53"/>
                </a:solidFill>
                <a:latin typeface="Calibri"/>
              </a:rPr>
              <a:t>quels documents montent / descendent dans le top-10</a:t>
            </a:r>
          </a:p>
        </p:txBody>
      </p:sp>
      <p:sp>
        <p:nvSpPr>
          <p:cNvPr id="12" name="Oval 11"/>
          <p:cNvSpPr/>
          <p:nvPr/>
        </p:nvSpPr>
        <p:spPr>
          <a:xfrm>
            <a:off x="6667500" y="37338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Slider efSearch — </a:t>
            </a:r>
            <a:r>
              <a:rPr sz="1700">
                <a:solidFill>
                  <a:srgbClr val="243B53"/>
                </a:solidFill>
                <a:latin typeface="Calibri"/>
              </a:rPr>
              <a:t>recall ↑ et latence ↑ (le compromis en direct)</a:t>
            </a:r>
          </a:p>
        </p:txBody>
      </p:sp>
      <p:sp>
        <p:nvSpPr>
          <p:cNvPr id="14" name="Oval 13"/>
          <p:cNvSpPr/>
          <p:nvPr/>
        </p:nvSpPr>
        <p:spPr>
          <a:xfrm>
            <a:off x="6667500" y="4343400"/>
            <a:ext cx="76200" cy="76200"/>
          </a:xfrm>
          <a:prstGeom prst="ellipse">
            <a:avLst/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2672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B2545"/>
                </a:solidFill>
                <a:latin typeface="Calibri"/>
              </a:rPr>
              <a:t>Plan B — </a:t>
            </a:r>
            <a:r>
              <a:rPr sz="1700">
                <a:solidFill>
                  <a:srgbClr val="243B53"/>
                </a:solidFill>
                <a:latin typeface="Calibri"/>
              </a:rPr>
              <a:t>courbes pré-calculées si la démo ne se lance pas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100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2950" y="381000"/>
            <a:ext cx="1028700" cy="285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C6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58500" y="400050"/>
            <a:ext cx="723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6B7A90"/>
                </a:solidFill>
                <a:latin typeface="Calibri"/>
              </a:rPr>
              <a:t>14/14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095375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2545"/>
                </a:solidFill>
                <a:latin typeface="Calibri"/>
              </a:rPr>
              <a:t>Conclusion — pas de méthode magique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0200"/>
            <a:ext cx="10953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6B7A90"/>
                </a:solidFill>
                <a:latin typeface="Calibri"/>
              </a:rPr>
              <a:t>Chaque approche a son domaine de pertinence.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343150"/>
            <a:ext cx="2552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34315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533650"/>
            <a:ext cx="2190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BM25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895600"/>
            <a:ext cx="2190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mots exacts, termes rares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1850" y="2343150"/>
            <a:ext cx="2552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1850" y="234315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5B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2350" y="2533650"/>
            <a:ext cx="2190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350" y="2895600"/>
            <a:ext cx="2190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le sens, les paraphrases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4100" y="2343150"/>
            <a:ext cx="2552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34100" y="234315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2533650"/>
            <a:ext cx="2190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Hybride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895600"/>
            <a:ext cx="2190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surtout les requêtes sémantiques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343150"/>
            <a:ext cx="2552700" cy="142875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96350" y="2343150"/>
            <a:ext cx="57150" cy="1428750"/>
          </a:xfrm>
          <a:prstGeom prst="roundRect">
            <a:avLst>
              <a:gd name="adj" fmla="val 4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6850" y="2533650"/>
            <a:ext cx="21907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B2545"/>
                </a:solidFill>
                <a:latin typeface="Calibri"/>
              </a:rPr>
              <a:t>HNSW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6850" y="2895600"/>
            <a:ext cx="21907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243B53"/>
                </a:solidFill>
                <a:latin typeface="Calibri"/>
              </a:rPr>
              <a:t>le passage à l'échelle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4038600"/>
            <a:ext cx="5314950" cy="1238250"/>
          </a:xfrm>
          <a:prstGeom prst="roundRect">
            <a:avLst>
              <a:gd name="adj" fmla="val 8000"/>
            </a:avLst>
          </a:prstGeom>
          <a:solidFill>
            <a:srgbClr val="FBE9E0"/>
          </a:solidFill>
          <a:ln w="1270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050" y="4171950"/>
            <a:ext cx="4972050" cy="100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Limite : corpus synthétique → on défend des tendances, pas des magnitudes absolues.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400" y="4038600"/>
            <a:ext cx="5314950" cy="1238250"/>
          </a:xfrm>
          <a:prstGeom prst="roundRect">
            <a:avLst>
              <a:gd name="adj" fmla="val 8000"/>
            </a:avLst>
          </a:prstGeom>
          <a:solidFill>
            <a:srgbClr val="E3F2EE"/>
          </a:solidFill>
          <a:ln w="1270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850" y="4171950"/>
            <a:ext cx="4972050" cy="1009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545"/>
                </a:solidFill>
                <a:latin typeface="Calibri"/>
              </a:rPr>
              <a:t>Ouverture : fusion BM25 + dense avant re-ranking ; pgvector + filtres SQL ; vrais embeddings à 1M.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5486400"/>
            <a:ext cx="109537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B2545"/>
                </a:solidFill>
                <a:latin typeface="Calibri"/>
              </a:rPr>
              <a:t>Notre apport : montrer dans quels cas chaque méthode devient pertinente — pas qu'une seule gagne.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